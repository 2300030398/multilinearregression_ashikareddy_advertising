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62033"/>
                </a:solidFill>
                <a:latin typeface="+mn-lt"/>
              </a:rPr>
              <a:t>Average value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1E35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0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5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A6A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7964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TV</c:v>
                  </c:pt>
                  <c:pt idx="1">
                    <c:v>Radio</c:v>
                  </c:pt>
                  <c:pt idx="2">
                    <c:v>Newspaper</c:v>
                  </c:pt>
                  <c:pt idx="3">
                    <c:v>Sales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154.33</c:v>
                </c:pt>
                <c:pt idx="1">
                  <c:v>23.65</c:v>
                </c:pt>
                <c:pt idx="2">
                  <c:v>29.25</c:v>
                </c:pt>
                <c:pt idx="3">
                  <c:v>14.51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0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0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3DE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0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033"/>
                </a:solidFill>
                <a:latin typeface="+mn-lt"/>
              </a:rPr>
              <a:t>Model coefficient by medium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1E3582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620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5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A6A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7964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TV</c:v>
                  </c:pt>
                  <c:pt idx="1">
                    <c:v>Radio</c:v>
                  </c:pt>
                  <c:pt idx="2">
                    <c:v>Newspaper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0.0424</c:v>
                </c:pt>
                <c:pt idx="1">
                  <c:v>0.1882</c:v>
                </c:pt>
                <c:pt idx="2">
                  <c:v>-0.0049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300" u="none">
                  <a:solidFill>
                    <a:srgbClr val="1620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20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3DE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0"/>
          </a:xfrm>
          <a:prstGeom prst="rect">
            <a:avLst/>
          </a:prstGeom>
          <a:solidFill>
            <a:srgbClr val="1E3582"/>
          </a:solidFill>
          <a:ln w="12700">
            <a:solidFill>
              <a:srgbClr val="1E35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6400800"/>
          </a:xfrm>
          <a:prstGeom prst="rect">
            <a:avLst/>
          </a:prstGeom>
          <a:solidFill>
            <a:srgbClr val="14A6AA"/>
          </a:solidFill>
          <a:ln w="12700">
            <a:solidFill>
              <a:srgbClr val="14A6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320040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320040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0"/>
            <a:ext cx="320040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0"/>
            <a:ext cx="320040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0"/>
            <a:ext cx="320040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0" y="0"/>
            <a:ext cx="320040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731520"/>
            <a:ext cx="9262872" cy="502920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D3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0" y="1051560"/>
            <a:ext cx="9262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Calibo AI Academy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1645920"/>
            <a:ext cx="8897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2B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Advertising Sales Prediction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2606040"/>
            <a:ext cx="8897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Model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337560"/>
            <a:ext cx="9262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703320"/>
            <a:ext cx="9262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ASHIKA REDDY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270248" y="457200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E8F3F1"/>
          </a:solidFill>
          <a:ln w="12700">
            <a:solidFill>
              <a:srgbClr val="14A6A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70248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REGRESSION</a:t>
            </a:r>
            <a:endParaRPr lang="en-US" sz="1200" dirty="0"/>
          </a:p>
        </p:txBody>
      </p:sp>
      <p:sp>
        <p:nvSpPr>
          <p:cNvPr id="18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Sales Prediction | Project overview and presentation title.</a:t>
            </a:r>
            <a:endParaRPr lang="en-US" sz="1100" dirty="0"/>
          </a:p>
        </p:txBody>
      </p:sp>
      <p:sp>
        <p:nvSpPr>
          <p:cNvPr id="20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BUSINESS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Advertising Analysis Matters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budgets are limited, so each channel must earn its share.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| Defines the objective, stakeholder and success measure.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486400" cy="1737360"/>
          </a:xfrm>
          <a:prstGeom prst="roundRect">
            <a:avLst>
              <a:gd name="adj" fmla="val 6316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5146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spends on TV, Radio and Newspaper advertising and wants to understand how each affects Sales.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53912" y="2011680"/>
            <a:ext cx="5486400" cy="1737360"/>
          </a:xfrm>
          <a:prstGeom prst="roundRect">
            <a:avLst>
              <a:gd name="adj" fmla="val 6316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82512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5146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evidence, budget may go to channels that add little. Decision makers need a clear estimate of each channel's effect.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5875">
            <a:solidFill>
              <a:srgbClr val="14A6A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9776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THE BUSINESS QUESTION  </a:t>
            </a:r>
            <a:endParaRPr lang="en-US" sz="13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B2B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advertising spend on TV, Radio and Newspaper predict Sales?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5303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669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dataset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15968" y="516636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44568" y="5303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44568" y="5669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74152" y="516636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02752" y="5303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302752" y="5669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explainable forecasts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DATA FOUNDATION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spend per medium and the resulting Sales.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| 190 records, 4 columns and no missing values.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8640" y="2103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64992" y="20116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364992" y="2103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364992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81344" y="20116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181344" y="2103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181344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97696" y="20116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997696" y="2103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14.51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997696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724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(X)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2519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TV, Radio and Newspaper advertising spend.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315968" y="37490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544568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(y)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44568" y="42519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a continuous number, which is why regression is used.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74152" y="37490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302752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302752" y="42519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are present, so no cleaning or filling was needed.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EXPLORATORY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Statistics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varies widely, with TV the largest channel on average.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| TV averages 154.33, Radio 23.65, Newspaper 29.25 and Sales 14.51.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1280160"/>
                <a:gridCol w="118872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154.33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293.60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Newspaper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7589520" y="1920240"/>
          <a:ext cx="4050792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4572000"/>
            <a:ext cx="6766560" cy="1645920"/>
          </a:xfrm>
          <a:prstGeom prst="roundRect">
            <a:avLst>
              <a:gd name="adj" fmla="val 6667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77240" y="47091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507492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spend ranges from 5.4 to 293.6, while Radio tops out at 49.6. Newspaper has the widest relative spread, with a maximum of 114.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589520" y="4983480"/>
            <a:ext cx="4050792" cy="1234440"/>
          </a:xfrm>
          <a:prstGeom prst="roundRect">
            <a:avLst>
              <a:gd name="adj" fmla="val 8889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7818120" y="512064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818120" y="5486400"/>
            <a:ext cx="3593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 in any column.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MODEL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Regression Model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split, train, predict and evaluate.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| 80/20 split gives 152 training and 38 testing records.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 and target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520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TV, Radio, Newspaper predict Sales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301752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64992" y="21031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593592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 train / 20% test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3593592" y="3520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training and 38 testing rows, random_state = 42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71032" y="301752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81344" y="21031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09944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3520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fit() learns the coefficients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787384" y="301752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997696" y="21031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226296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226296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estimates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9226296" y="3520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 on unseen test data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 w="15875">
            <a:solidFill>
              <a:srgbClr val="14A6A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WHY MULTIPLE LINEAR REGRESSION  </a:t>
            </a:r>
            <a:endParaRPr lang="en-US" sz="13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B2B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depends on three advertising inputs, and the coefficients are easy to explain.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MODEL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Results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38 unseen records.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| MAE 1.1753, MSE 3.0100, RMSE 1.7349 and R-squared 0.8606.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8640" y="2148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1.1753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17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29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error in Sales units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64992" y="201168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364992" y="2148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A6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3.0100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3364992" y="3017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429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squared error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81344" y="201168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181344" y="2148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1.7349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6181344" y="3017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3429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error in Sales units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97696" y="201168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997696" y="2148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0.8606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8997696" y="3017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26296" y="3429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Sales variation explained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617720"/>
            <a:ext cx="5486400" cy="1600200"/>
          </a:xfrm>
          <a:prstGeom prst="roundRect">
            <a:avLst>
              <a:gd name="adj" fmla="val 6857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77240" y="4754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1206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R² of 0.86 means the three channels explain about 86% of the variation in Sales on unseen data.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53912" y="4617720"/>
            <a:ext cx="5486400" cy="1600200"/>
          </a:xfrm>
          <a:prstGeom prst="roundRect">
            <a:avLst>
              <a:gd name="adj" fmla="val 6857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382512" y="4754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SIZE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382512" y="51206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off by about 1.2 to 1.7 Sales units on average, against an average Sales of 14.51.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MODEL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 vs Predicted Sales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close to the dashed line are accurate predictions.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Quality | Test predictions follow the ideal line closely.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6035040" cy="4343400"/>
          </a:xfrm>
          <a:prstGeom prst="roundRect">
            <a:avLst>
              <a:gd name="adj" fmla="val 2526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0" descr="/home/claude/build/adv_sca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011680"/>
            <a:ext cx="5577840" cy="41605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0" y="2011680"/>
            <a:ext cx="4782312" cy="2011680"/>
          </a:xfrm>
          <a:prstGeom prst="roundRect">
            <a:avLst>
              <a:gd name="adj" fmla="val 545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086600" y="2148840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PLOT SHOWS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2514600"/>
            <a:ext cx="4325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values track actual values along the ideal line, with scatter that matches the RMSE of about 1.73.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858000" y="4251960"/>
            <a:ext cx="4782312" cy="1965960"/>
          </a:xfrm>
          <a:prstGeom prst="roundRect">
            <a:avLst>
              <a:gd name="adj" fmla="val 5581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086600" y="4389120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STRUGGLES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086600" y="4754880"/>
            <a:ext cx="43251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points sit further from the line, so individual forecasts can still miss by two Sales units or more.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•  MODEL INSIGHTS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the Coefficients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change in Sales for one more unit of spend, other inputs held constant.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| Radio 0.1882, TV 0.0424, Newspaper -0.0049, intercept 3.7582.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92024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498080" y="2011680"/>
            <a:ext cx="4142232" cy="1371600"/>
          </a:xfrm>
          <a:prstGeom prst="roundRect">
            <a:avLst>
              <a:gd name="adj" fmla="val 8000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680960" y="20116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3.7582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rgbClr val="162033"/>
                </a:solidFill>
              </a:rPr>
              <a:t>Intercept: baseline Sales with zero spend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7498080" y="3566160"/>
            <a:ext cx="4142232" cy="1325880"/>
          </a:xfrm>
          <a:prstGeom prst="roundRect">
            <a:avLst>
              <a:gd name="adj" fmla="val 8276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726680" y="3703320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26680" y="4069080"/>
            <a:ext cx="3685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+0.19 Sales per extra unit of Radio spend.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498080" y="5029200"/>
            <a:ext cx="4142232" cy="1188720"/>
          </a:xfrm>
          <a:prstGeom prst="roundRect">
            <a:avLst>
              <a:gd name="adj" fmla="val 9231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726680" y="5166360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AND NEWSPAPER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26680" y="5532120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adds about 0.04; Newspaper is near zero.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•  MODEL INSIGHTS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Strongest and Weakest Channels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coefficients across the three media.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Impact | Radio has the strongest effect and Newspaper the least.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593592" cy="3108960"/>
          </a:xfrm>
          <a:prstGeom prst="roundRect">
            <a:avLst>
              <a:gd name="adj" fmla="val 3529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IMPACT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Radio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0.1882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7947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 unit of Radio spend is linked to the biggest rise in Sales.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2011680"/>
            <a:ext cx="3593592" cy="3108960"/>
          </a:xfrm>
          <a:prstGeom prst="roundRect">
            <a:avLst>
              <a:gd name="adj" fmla="val 3529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57200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TV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0.0424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7947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effect per unit, but TV has the largest budget range and the strongest correlation with Sales (0.78).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2011680"/>
            <a:ext cx="3593592" cy="3108960"/>
          </a:xfrm>
          <a:prstGeom prst="roundRect">
            <a:avLst>
              <a:gd name="adj" fmla="val 3529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2104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IMPACT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Newspaper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-0.0049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7947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zero in this model, so Newspaper adds little once TV and Radio are included.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8F3F1"/>
          </a:solidFill>
          <a:ln w="15875">
            <a:solidFill>
              <a:srgbClr val="14A6A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TAKEAWAY  </a:t>
            </a:r>
            <a:endParaRPr lang="en-US" sz="13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B2B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Radio shows the strongest estimated effect; Newspaper shows the least.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•  MODEL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 Predictions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Sales, predicted Sales and the error for the first test records.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Table | Error = actual minus predicted Sales.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5836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219456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Sales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Sales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406640" y="2011680"/>
            <a:ext cx="4233672" cy="1920240"/>
          </a:xfrm>
          <a:prstGeom prst="roundRect">
            <a:avLst>
              <a:gd name="adj" fmla="val 5714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635240" y="214884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ERRORS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2514600"/>
            <a:ext cx="3776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error means the model under-predicted; negative means it over-predicted.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406640" y="4160520"/>
            <a:ext cx="4233672" cy="2057400"/>
          </a:xfrm>
          <a:prstGeom prst="roundRect">
            <a:avLst>
              <a:gd name="adj" fmla="val 5333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635240" y="429768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4663440"/>
            <a:ext cx="37764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these eight rows, errors range from -2.06 to +1.64, in line with an RMSE of 1.73.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•  BUSINESS APPLICATION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Sales for a New Budget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trained model to test a planned spend.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Scenario | TV 150, Radio 20 and Newspaper 30 gives predicted Sales of 13.73.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2194560" cy="1920240"/>
          </a:xfrm>
          <a:prstGeom prst="roundRect">
            <a:avLst>
              <a:gd name="adj" fmla="val 5714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8640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spend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26080" y="2103120"/>
            <a:ext cx="2194560" cy="1920240"/>
          </a:xfrm>
          <a:prstGeom prst="roundRect">
            <a:avLst>
              <a:gd name="adj" fmla="val 5714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926080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A6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spend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0" y="2103120"/>
            <a:ext cx="2194560" cy="1920240"/>
          </a:xfrm>
          <a:prstGeom prst="roundRect">
            <a:avLst>
              <a:gd name="adj" fmla="val 5714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303520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 spend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229600" y="2103120"/>
            <a:ext cx="3410712" cy="1920240"/>
          </a:xfrm>
          <a:prstGeom prst="roundRect">
            <a:avLst>
              <a:gd name="adj" fmla="val 5714"/>
            </a:avLst>
          </a:prstGeom>
          <a:solidFill>
            <a:srgbClr val="E8F3F1"/>
          </a:solidFill>
          <a:ln w="19050">
            <a:solidFill>
              <a:srgbClr val="14A6A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2103120"/>
            <a:ext cx="34107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13.73</a:t>
            </a:r>
            <a:endParaRPr lang="en-US" sz="44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62033"/>
                </a:solidFill>
              </a:rPr>
              <a:t>Predicted Sales</a:t>
            </a:r>
            <a:endParaRPr lang="en-US" sz="440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724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CALCULATED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8006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= 3.76 + 0.0424 × TV + 0.1882 × Radio − 0.0049 × Newspaper, using the learned coefficients.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53912" y="429768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382512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48006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three spend values to compare budget plans before committing real money.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•  FINAL 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and Next Steps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 baseline that points to Radio as the channel to watch.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| R-squared 0.8606 and Radio as the strongest channel; check real costs and test other models.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E8F3F1"/>
          </a:solidFill>
          <a:ln w="15875">
            <a:solidFill>
              <a:srgbClr val="14A6A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0116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KEY RESULT  </a:t>
            </a:r>
            <a:endParaRPr lang="en-US" sz="13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B2B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linear regression explains 86% of Sales variation, and Radio has the strongest effect.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02336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 regression model on 152 records and tested it on 38 unseen records.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15968" y="352044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544568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402336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0.8606, RMSE 1.73. Radio is strongest; Newspaper adds almost nothing.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74152" y="352044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302752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02752" y="402336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real campaign costs per channel and test other models for better performance.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libo AI Academy">
  <a:themeElements>
    <a:clrScheme name="Calibo AI Academy">
      <a:dk1>
        <a:srgbClr val="162033"/>
      </a:dk1>
      <a:lt1>
        <a:srgbClr val="FFFFFF"/>
      </a:lt1>
      <a:dk2>
        <a:srgbClr val="0B2B67"/>
      </a:dk2>
      <a:lt2>
        <a:srgbClr val="E8F3F1"/>
      </a:lt2>
      <a:accent1>
        <a:srgbClr val="14A6AA"/>
      </a:accent1>
      <a:accent2>
        <a:srgbClr val="1E3582"/>
      </a:accent2>
      <a:accent3>
        <a:srgbClr val="0F766E"/>
      </a:accent3>
      <a:accent4>
        <a:srgbClr val="F79646"/>
      </a:accent4>
      <a:accent5>
        <a:srgbClr val="64748B"/>
      </a:accent5>
      <a:accent6>
        <a:srgbClr val="D3DEE5"/>
      </a:accent6>
      <a:hlink>
        <a:srgbClr val="1E3582"/>
      </a:hlink>
      <a:folHlink>
        <a:srgbClr val="64748B"/>
      </a:folHlink>
    </a:clrScheme>
    <a:fontScheme name="Calibo AI Academy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Prediction</dc:title>
  <dc:subject>PptxGenJS Presentation</dc:subject>
  <dc:creator>Ashika Reddy</dc:creator>
  <cp:lastModifiedBy>Ashika Reddy</cp:lastModifiedBy>
  <cp:revision>1</cp:revision>
  <dcterms:created xsi:type="dcterms:W3CDTF">2026-10-08T10:58:26Z</dcterms:created>
  <dcterms:modified xsi:type="dcterms:W3CDTF">2026-10-08T10:58:26Z</dcterms:modified>
</cp:coreProperties>
</file>